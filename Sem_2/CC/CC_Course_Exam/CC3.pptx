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  <a:endParaRPr lang="en-US" sz="12200" dirty="0"/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  <a:endParaRPr lang="en-US" sz="122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Institutions of the European Union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A Detailed Overview of the EU Institutional Framework</a:t>
            </a:r>
          </a:p>
          <a:p>
            <a:r>
              <a:t>Based on Course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 Institutional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of the most complex institutional systems in the world.</a:t>
            </a:r>
          </a:p>
          <a:p>
            <a:r>
              <a:t>• Role: Integrate political interests of member states, manage common activities, and issue binding acts.</a:t>
            </a:r>
          </a:p>
          <a:p>
            <a:r>
              <a:t>• Precedence: Community acts can prevail over national legislation.</a:t>
            </a:r>
          </a:p>
          <a:p>
            <a:r>
              <a:t>• Core Institutions: European Council, Council of the EU, European Commission, European Parliament.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European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ultimate decision-making body for strategies and treaties.</a:t>
            </a:r>
          </a:p>
          <a:p>
            <a:r>
              <a:t>• Composition: Heads of State or Government, President of the Commission, assisted by Foreign Ministers.</a:t>
            </a:r>
          </a:p>
          <a:p>
            <a:r>
              <a:t>• Function: Defines the general political direction and priorities of the EU.</a:t>
            </a:r>
          </a:p>
          <a:p>
            <a:r>
              <a:t>• Meetings: Usually twice a year (Summits), but can meet more often if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Council of the European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Also known as the Council of Ministers.</a:t>
            </a:r>
          </a:p>
          <a:p>
            <a:r>
              <a:t>• Composition: One minister from each member state, depending on the topic (e.g., Agriculture, Finance).</a:t>
            </a:r>
          </a:p>
          <a:p>
            <a:r>
              <a:t>• Main Powers:</a:t>
            </a:r>
          </a:p>
          <a:p>
            <a:r>
              <a:t>  - Legislative power (alongside Parliament).</a:t>
            </a:r>
          </a:p>
          <a:p>
            <a:r>
              <a:t>  - Coordination of member states' economic policies.</a:t>
            </a:r>
          </a:p>
          <a:p>
            <a:r>
              <a:t>  - Budgetary authority (alongside Parliament).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European 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executive arm and 'Guardian of the Treaties'.</a:t>
            </a:r>
          </a:p>
          <a:p>
            <a:r>
              <a:t>• Composition: One Commissioner from each state, acting in the interest of the EU, not their home country.</a:t>
            </a:r>
          </a:p>
          <a:p>
            <a:r>
              <a:t>• Key Roles:</a:t>
            </a:r>
          </a:p>
          <a:p>
            <a:r>
              <a:t>  - Right of initiative: Proposes new laws.</a:t>
            </a:r>
          </a:p>
          <a:p>
            <a:r>
              <a:t>  - Executive: Manages EU policies and funds.</a:t>
            </a:r>
          </a:p>
          <a:p>
            <a:r>
              <a:t>  - Enforcement: Ensures EU law is correctly applied by member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European Parliament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Representing the citizens of the EU.</a:t>
            </a:r>
          </a:p>
          <a:p>
            <a:r>
              <a:t>• Elections: Directly elected every 5 years by EU citizens.</a:t>
            </a:r>
          </a:p>
          <a:p>
            <a:r>
              <a:t>• Main Functions:</a:t>
            </a:r>
          </a:p>
          <a:p>
            <a:r>
              <a:t>  - Legislative: Passes laws together with the Council.</a:t>
            </a:r>
          </a:p>
          <a:p>
            <a:r>
              <a:t>  - Supervisory: Exercises democratic control over other EU institutions.</a:t>
            </a:r>
          </a:p>
          <a:p>
            <a:r>
              <a:t>  - Budgetary: Approves the EU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Court of Justice of the European Union (CJUE)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05" y="2052955"/>
            <a:ext cx="7345045" cy="4415155"/>
          </a:xfrm>
        </p:spPr>
        <p:txBody>
          <a:bodyPr>
            <a:normAutofit fontScale="90000"/>
          </a:bodyPr>
          <a:p>
            <a:pPr algn="just"/>
            <a:r>
              <a:rPr lang="en-US" altLang="en-US"/>
              <a:t>Ensuring the law is observed and uniformly interpreted across the EU.Core Mission: Ensures that EU legislation is interpreted and applied in the same way in every Member State.Guardian of Legality: Ensures that countries and EU institutions abide by EU law.Structure:Court of Justice: One judge from each Member State and 11 Advocates General.General Court: Two judges from each Member State.Key Functions:Preliminary Rulings: National courts ask for clarification on the interpretation of EU law.Actions for Annulment: Canceling EU legal acts that violate treaties or fundamental rights.Actions for Failure to Act: Taking action against EU institutions that fail to make required decisions.Infringement Proceedings: Taking action against national governments for failing to comply with EU law.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Institutions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European Investment Bank (EIB / BEI):</a:t>
            </a:r>
          </a:p>
          <a:p>
            <a:r>
              <a:t>  - Founded 1958; finances infrastructure, research, and green projects.</a:t>
            </a:r>
          </a:p>
          <a:p>
            <a:r>
              <a:t>European Investment Fund (EIF / FEI):</a:t>
            </a:r>
          </a:p>
          <a:p>
            <a:r>
              <a:t>  - Founded 1994; supports Small and Medium Enterprises (SMEs/IMM).</a:t>
            </a:r>
          </a:p>
          <a:p>
            <a:r>
              <a:t>  - Provides venture capital and guarantees to banks for SME loans.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Material:</a:t>
            </a:r>
          </a:p>
          <a:p>
            <a:r>
              <a:t>• Curs 3: Instituțiile Uniunii Europene (Course Materials)</a:t>
            </a:r>
          </a:p>
          <a:p>
            <a:r>
              <a:t>Key Topics Covered:</a:t>
            </a:r>
          </a:p>
          <a:p>
            <a:r>
              <a:t>  - Institutional Decision-making, Legislative Powers, Financial Support Systems.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3120</Words>
  <Application>WPS Presentation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Wingdings 3</vt:lpstr>
      <vt:lpstr>Arial</vt:lpstr>
      <vt:lpstr>Century Gothic</vt:lpstr>
      <vt:lpstr>Microsoft YaHei</vt:lpstr>
      <vt:lpstr>Arial Unicode MS</vt:lpstr>
      <vt:lpstr>Calibri</vt:lpstr>
      <vt:lpstr>Ion</vt:lpstr>
      <vt:lpstr>Institutions of the European Union</vt:lpstr>
      <vt:lpstr>The EU Institutional Framework</vt:lpstr>
      <vt:lpstr>The European Council</vt:lpstr>
      <vt:lpstr>The Council of the European Union</vt:lpstr>
      <vt:lpstr>The European Commission</vt:lpstr>
      <vt:lpstr>The European Parliament</vt:lpstr>
      <vt:lpstr>PowerPoint 演示文稿</vt:lpstr>
      <vt:lpstr>Financial Institutions</vt:lpstr>
      <vt:lpstr>Bibliography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Institutions of the European Union</dc:title>
  <dc:creator/>
  <dc:description>generated using python-pptx</dc:description>
  <cp:lastModifiedBy>CLS</cp:lastModifiedBy>
  <cp:revision>3</cp:revision>
  <dcterms:created xsi:type="dcterms:W3CDTF">2013-01-27T09:14:00Z</dcterms:created>
  <dcterms:modified xsi:type="dcterms:W3CDTF">2026-03-29T07:12:56Z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9C7B20FAC4DC4CFF95F66B944683FEBC_12</vt:lpwstr>
  </property>
  <property fmtid="{D5CDD505-2E9C-101B-9397-08002B2CF9AE}" pid="3" name="KSOProductBuildVer">
    <vt:lpwstr>1033-12.2.0.23196</vt:lpwstr>
  </property>
</Properties>
</file>