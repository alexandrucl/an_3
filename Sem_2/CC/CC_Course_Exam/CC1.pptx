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7813" y="1358900"/>
            <a:ext cx="6908800" cy="1082675"/>
          </a:xfrm>
        </p:spPr>
        <p:txBody>
          <a:bodyPr/>
          <a:lstStyle/>
          <a:p>
            <a:r>
              <a:t>Culture and Civilization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145" y="2196465"/>
            <a:ext cx="7176770" cy="2464435"/>
          </a:xfrm>
        </p:spPr>
        <p:txBody>
          <a:bodyPr/>
          <a:lstStyle/>
          <a:p>
            <a:r>
              <a:t>Definitions, Evolution, and the European Context</a:t>
            </a:r>
          </a:p>
          <a:p>
            <a:r>
              <a:t>Based on Course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the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Culture is a complex social phenomenon, nearly impossible to define strictly.</a:t>
            </a:r>
          </a:p>
          <a:p>
            <a:r>
              <a:t>Historical inventory found 146 different meanings for 'culture' and 'civilization'.</a:t>
            </a:r>
          </a:p>
          <a:p>
            <a:r>
              <a:t>General distinction:</a:t>
            </a:r>
          </a:p>
          <a:p>
            <a:r>
              <a:t>    • Culture: spiritual creations, systems of ideas, and values.</a:t>
            </a:r>
          </a:p>
          <a:p>
            <a:r>
              <a:t>    • Civilization: material creations and tools for adaptation.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Theoretical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Simion Mehedinţi: Culture (soul/intellect) vs. Civilization (technical/geographical adaptation).</a:t>
            </a:r>
          </a:p>
          <a:p>
            <a:r>
              <a:t>Anton Dumitriu: Culture (human-centered values) vs. Civilization (life in the city/tools).</a:t>
            </a:r>
          </a:p>
          <a:p>
            <a:r>
              <a:t>Ovidiu Drimba: Culture (spirit/intellect) vs. Civilization (adaptation to physical/social environment).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Etymology and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Culture: From Latin 'cultura'. Originally 'cultura agri' (tilling land); later 'cultura animi' (education of the spirit).</a:t>
            </a:r>
          </a:p>
          <a:p>
            <a:r>
              <a:t>Civilization: From Latin 'civilis' (citizen qualities). Term appeared c. 1766 (Voltaire).</a:t>
            </a:r>
          </a:p>
          <a:p>
            <a:r>
              <a:t>Greeks/Romans linked citizenship to 'civilized' behavior, viewing others as 'barbarians'.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Principle of Incompleteness: Neither concept is self-sufficient; each defines the other.</a:t>
            </a:r>
          </a:p>
          <a:p>
            <a:r>
              <a:t>Interaction: They are twin phenomena separated only by the mind.</a:t>
            </a:r>
          </a:p>
          <a:p>
            <a:r>
              <a:t>Tudor Vianu: Civilization is a 'partial culture' focused on technical-economic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'Europe'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Mythology: Europa, daughter of the King of Phoenicia, taken to Crete by Zeus.</a:t>
            </a:r>
          </a:p>
          <a:p>
            <a:r>
              <a:t>Geography: Penultimate in size, ~700 million inhabitants (~11% of world population).</a:t>
            </a:r>
          </a:p>
          <a:p>
            <a:r>
              <a:t>Boundaries: Arctic Ocean (N), Mediterranean (S), Ural Mountains (E), Atlantic (W).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Political Borders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'Small Europe' (Western) vs. 'Great Europe' (including Central/Eastern).</a:t>
            </a:r>
          </a:p>
          <a:p>
            <a:r>
              <a:t>Berlin Wall (1989): Formerly viewed as the severe eastern boundary.</a:t>
            </a:r>
          </a:p>
          <a:p>
            <a:r>
              <a:t>Heinrich Böll: Argued Russia, Poland, and the Balkans are historically/culturally European.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Criteria (Andrei Marga)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Science &amp; Tech: Mathematical, cause-effect knowledge.</a:t>
            </a:r>
          </a:p>
          <a:p>
            <a:r>
              <a:t>2. Economy: Rational economic behavior (Capitalism/Efficiency).</a:t>
            </a:r>
          </a:p>
          <a:p>
            <a:r>
              <a:t>3. Law: Legalism, personalism, and natural rights.</a:t>
            </a:r>
          </a:p>
          <a:p>
            <a:r>
              <a:t>4. Politics: Democracy, pluralism, and public debate.</a:t>
            </a:r>
          </a:p>
          <a:p>
            <a:r>
              <a:t>5. Spiritual Culture: Truth as value, public sphere, and human meaning.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690" y="1696720"/>
            <a:ext cx="7727950" cy="3945890"/>
          </a:xfrm>
        </p:spPr>
        <p:txBody>
          <a:bodyPr>
            <a:normAutofit fontScale="70000"/>
          </a:bodyPr>
          <a:lstStyle/>
          <a:p>
            <a:r>
              <a:t>Primary Source:</a:t>
            </a:r>
          </a:p>
          <a:p>
            <a:pPr lvl="1"/>
            <a:r>
              <a:t>• Curs 1: Cultură și Civilizație (Course Materials)</a:t>
            </a:r>
          </a:p>
          <a:p>
            <a:r>
              <a:t>Key Authors Cited:</a:t>
            </a:r>
          </a:p>
          <a:p>
            <a:pPr lvl="1"/>
            <a:r>
              <a:t>• Simion Mehedinţi – 'Civilizaţie şi cultură'</a:t>
            </a:r>
          </a:p>
          <a:p>
            <a:pPr lvl="1"/>
            <a:r>
              <a:t>• Anton Dumitriu – 'Cultură şi Civilizaţie'</a:t>
            </a:r>
          </a:p>
          <a:p>
            <a:pPr lvl="1"/>
            <a:r>
              <a:t>• Ovidiu Drimba – 'Istoria culturii şi civilizaţiei'</a:t>
            </a:r>
          </a:p>
          <a:p>
            <a:pPr lvl="1"/>
            <a:r>
              <a:t>• Tudor Vianu – Philosophical perspectives on culture</a:t>
            </a:r>
          </a:p>
          <a:p>
            <a:pPr lvl="1"/>
            <a:r>
              <a:t>• Andrei Marga – Criteria for European identity</a:t>
            </a:r>
          </a:p>
          <a:p>
            <a:pPr lvl="1"/>
            <a:r>
              <a:t>• Heinrich Böll &amp; Richard von Weizsäcker – Perspectives on Europe's borders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2556</Words>
  <Application>WPS Presentation</Application>
  <PresentationFormat>On-screen Show (4:3)</PresentationFormat>
  <Paragraphs>63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Communications and Dialogues</vt:lpstr>
      <vt:lpstr>Culture and Civilization</vt:lpstr>
      <vt:lpstr>Introduction to the Concepts</vt:lpstr>
      <vt:lpstr>Key Theoretical Perspectives</vt:lpstr>
      <vt:lpstr>Etymology and Evolution</vt:lpstr>
      <vt:lpstr>The Relationship</vt:lpstr>
      <vt:lpstr>Defining 'Europe'</vt:lpstr>
      <vt:lpstr>Political Borders</vt:lpstr>
      <vt:lpstr>Criteria (Andrei Marga)</vt:lpstr>
      <vt:lpstr>Bibliography /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CLS</cp:lastModifiedBy>
  <cp:revision>2</cp:revision>
  <dcterms:created xsi:type="dcterms:W3CDTF">2013-01-27T09:14:00Z</dcterms:created>
  <dcterms:modified xsi:type="dcterms:W3CDTF">2026-02-14T18:16:01Z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2641B387C3694B53AF678FBCC488A8F6_13</vt:lpwstr>
  </property>
  <property fmtid="{D5CDD505-2E9C-101B-9397-08002B2CF9AE}" pid="3" name="KSOProductBuildVer">
    <vt:lpwstr>1033-12.2.0.23196</vt:lpwstr>
  </property>
</Properties>
</file>