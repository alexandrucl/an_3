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40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35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8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14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68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6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69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82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8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62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07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4584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83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36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22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41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58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112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History of the European Union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t>From the Schuman Declaration to the Treaty of Lisbon</a:t>
            </a:r>
          </a:p>
          <a:p>
            <a:r>
              <a:t>A Comprehensive Timeline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Beginning: May 9, 1950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Schuman Declaration</a:t>
            </a:r>
          </a:p>
          <a:p>
            <a:r>
              <a:t>• Drafted by Jean Monnet, announced by Robert Schuman.</a:t>
            </a:r>
          </a:p>
          <a:p>
            <a:r>
              <a:t>• Goal: Joint control of coal and steel (war resources) between France and Germany.</a:t>
            </a:r>
          </a:p>
          <a:p>
            <a:r>
              <a:t>• Famous quote: War becomes 'not only unthinkable, but materially impossible'.</a:t>
            </a:r>
          </a:p>
          <a:p>
            <a:r>
              <a:t>• Result: ECSC (European Coal and Steel Community) founded in 1951 (Treaty of Paris).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Expanding the Vision: 1957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Treaties of Rome</a:t>
            </a:r>
          </a:p>
          <a:p>
            <a:r>
              <a:t>• Established the EEC (European Economic Community) and EURATOM.</a:t>
            </a:r>
          </a:p>
          <a:p>
            <a:r>
              <a:t>• Created a 'Common Market' based on 4 freedoms: goods, services, capital, and labor.</a:t>
            </a:r>
          </a:p>
          <a:p>
            <a:r>
              <a:t>• Founding Members: France, West Germany, Italy, Belgium, Netherlands, Luxembourg.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and Consolidation (1960s-1970s)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1967: The Merger Treaty – unified the executive institutions of ECSC, EEC, and EURATOM.</a:t>
            </a:r>
          </a:p>
          <a:p>
            <a:r>
              <a:t>• 1973: First Enlargement – United Kingdom, Denmark, and Ireland join.</a:t>
            </a:r>
          </a:p>
          <a:p>
            <a:r>
              <a:t>• 1979: First Direct Elections – Citizens elect members of the European Parliament for the first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Single European Act: 1986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Completing the Internal Market</a:t>
            </a:r>
          </a:p>
          <a:p>
            <a:r>
              <a:t>• Set a deadline: December 31, 1992, to remove all remaining commercial barriers.</a:t>
            </a:r>
          </a:p>
          <a:p>
            <a:r>
              <a:t>• Introduced more majority voting in the Council to speed up decision-making.</a:t>
            </a:r>
          </a:p>
          <a:p>
            <a:r>
              <a:t>• Expanded powers to environment and regional policy.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Birth of the EU: 1992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Treaty on European Union (Maastricht)</a:t>
            </a:r>
          </a:p>
          <a:p>
            <a:r>
              <a:t>• Formally established the 'European Union'.</a:t>
            </a:r>
          </a:p>
          <a:p>
            <a:r>
              <a:t>• Introduced the 3 Pillars structure: Economics, Foreign Policy/Security, and Justice/Internal Affairs.</a:t>
            </a:r>
          </a:p>
          <a:p>
            <a:r>
              <a:t>• Created European Citizenship and the roadmap for the Euro (Single Currency).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Preparing for Enlargement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1997 Treaty of Amsterdam: Focused on employment, social rights, and freedom of movement.</a:t>
            </a:r>
          </a:p>
          <a:p>
            <a:r>
              <a:t>• 2001 Treaty of Nice: Reformed voting rules and institutional sizes to handle more members.</a:t>
            </a:r>
          </a:p>
          <a:p>
            <a:r>
              <a:t>• 2004/2007: Massive enlargement to the East. Romania and Bulgaria join on Jan 1, 2007.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Reform: 2007/2009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Treaty of Lisbon</a:t>
            </a:r>
          </a:p>
          <a:p>
            <a:r>
              <a:t>• Abolished the 3 pillars; UE became a single legal entity.</a:t>
            </a:r>
          </a:p>
          <a:p>
            <a:r>
              <a:t>• Created the President of the European Council and High Representative for Foreign Affairs.</a:t>
            </a:r>
          </a:p>
          <a:p>
            <a:r>
              <a:t>• Increased democratic legitimacy by giving more power to National Parliaments.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Material:</a:t>
            </a:r>
          </a:p>
          <a:p>
            <a:r>
              <a:t>• Curs 2: Istoricul Construcției Europene (Course Materials)</a:t>
            </a:r>
          </a:p>
          <a:p>
            <a:r>
              <a:t>Key Historical Figures:</a:t>
            </a:r>
          </a:p>
          <a:p>
            <a:r>
              <a:t>  - Jean Monnet, Robert Schuman, Konrad Adenauer.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448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History of the European Union</vt:lpstr>
      <vt:lpstr>The Beginning: May 9, 1950</vt:lpstr>
      <vt:lpstr>Expanding the Vision: 1957</vt:lpstr>
      <vt:lpstr>Growth and Consolidation (1960s-1970s)</vt:lpstr>
      <vt:lpstr>The Single European Act: 1986</vt:lpstr>
      <vt:lpstr>The Birth of the EU: 1992</vt:lpstr>
      <vt:lpstr>Preparing for Enlargement</vt:lpstr>
      <vt:lpstr>Modern Reform: 2007/2009</vt:lpstr>
      <vt:lpstr>Bibliography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Miro</cp:lastModifiedBy>
  <cp:revision>2</cp:revision>
  <dcterms:created xsi:type="dcterms:W3CDTF">2013-01-27T09:14:16Z</dcterms:created>
  <dcterms:modified xsi:type="dcterms:W3CDTF">2026-03-14T18:49:16Z</dcterms:modified>
  <cp:category/>
</cp:coreProperties>
</file>