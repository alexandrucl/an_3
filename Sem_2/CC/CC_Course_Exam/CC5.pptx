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5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96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5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6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1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8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7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8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11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6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0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522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73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20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22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72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5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81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Symbols and Policies of the European Union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Identity and Internal Governance</a:t>
            </a:r>
          </a:p>
          <a:p>
            <a:r>
              <a:t>Detailed Overview based on Course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Symbols of Identity: Flag and Anthem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Flag (Adopted 1985/1986):</a:t>
            </a:r>
          </a:p>
          <a:p>
            <a:r>
              <a:t>• 12 golden stars on a blue background representing unity and harmony.</a:t>
            </a:r>
          </a:p>
          <a:p>
            <a:r>
              <a:t>• The number of stars is symbolic and does not change with the number of member states.</a:t>
            </a:r>
          </a:p>
          <a:p>
            <a:r>
              <a:t>The Anthem (Adopted 1985):</a:t>
            </a:r>
          </a:p>
          <a:p>
            <a:r>
              <a:t>• Prelude to 'Ode to Joy' from Beethoven's 9th Symphony.</a:t>
            </a:r>
          </a:p>
          <a:p>
            <a:r>
              <a:t>• Expresses ideals of freedom, peace, and solidarity.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Symbols of Identity: Day, Motto, and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Europe Day: May 9th, in memory of the 1950 Schuman Declaration.</a:t>
            </a:r>
          </a:p>
          <a:p>
            <a:r>
              <a:t>• Motto: 'Unity in diversity' (Unitate în diversitate) - adopted in 2000.</a:t>
            </a:r>
          </a:p>
          <a:p>
            <a:r>
              <a:t>• Official Languages: Currently 24. All EU decisions are translated into every official language.</a:t>
            </a:r>
          </a:p>
          <a:p>
            <a:r>
              <a:t>• European Capitals of Culture: Cities designated to highlight the richness of European diversity.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Euro and the Eurozone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1995: The name 'Euro' was established at the Madrid Summit.</a:t>
            </a:r>
          </a:p>
          <a:p>
            <a:r>
              <a:t>• Jan 1, 2002: Physical coins and notes entered circulation.</a:t>
            </a:r>
          </a:p>
          <a:p>
            <a:r>
              <a:t>• The Eurozone: Currently includes 19 member states that have adopted the currency.</a:t>
            </a:r>
          </a:p>
          <a:p>
            <a:r>
              <a:t>• Design: Banknotes have identical designs; coins have one common side and one national 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Internal Market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the principle of the Four Freedoms:</a:t>
            </a:r>
          </a:p>
          <a:p>
            <a:r>
              <a:t>1. Free movement of Goods (elimination of customs/barriers).</a:t>
            </a:r>
          </a:p>
          <a:p>
            <a:r>
              <a:t>2. Free movement of Persons (working and living anywhere in the EU).</a:t>
            </a:r>
          </a:p>
          <a:p>
            <a:r>
              <a:t>3. Free movement of Services (cross-border service provision).</a:t>
            </a:r>
          </a:p>
          <a:p>
            <a:r>
              <a:t>4. Free movement of Capital (investments and payments across borders).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Governance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Competences: Exclusive (EU only), Mixed (EU &amp; State), and Complementary.</a:t>
            </a:r>
          </a:p>
          <a:p>
            <a:r>
              <a:t>• Principle of Subsidiarity: Decisions are taken at the level closest to citizens (unless EU action is more effective).</a:t>
            </a:r>
          </a:p>
          <a:p>
            <a:r>
              <a:t>• Principle of Proportionality: EU action must not exceed what is necessary to achieve goals.</a:t>
            </a:r>
          </a:p>
          <a:p>
            <a:r>
              <a:t>• Supremacy of EU Law: EU law prevails over national law in relevant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Policy &amp;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Criteria for joining the Eurozone:</a:t>
            </a:r>
          </a:p>
          <a:p>
            <a:r>
              <a:t>• Price Stability: Low inflation.</a:t>
            </a:r>
          </a:p>
          <a:p>
            <a:r>
              <a:t>• Budgetary Discipline: Deficit &lt; 3% of GDP; Debt &lt; 60% of GDP.</a:t>
            </a:r>
          </a:p>
          <a:p>
            <a:r>
              <a:t>• Exchange Rate Stability.</a:t>
            </a:r>
          </a:p>
          <a:p>
            <a:r>
              <a:t>• Convergence of long-term interest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 and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Competition: Anti-trust laws, prohibition of monopolies and illegal state aid.</a:t>
            </a:r>
          </a:p>
          <a:p>
            <a:r>
              <a:t>Education: Subsidiarity applies (Member States decide).</a:t>
            </a:r>
          </a:p>
          <a:p>
            <a:r>
              <a:t>• Major Programs: SOCRATES (ERASMUS, COMENIUS) and LEONARDO DA VINCI.</a:t>
            </a:r>
          </a:p>
          <a:p>
            <a:r>
              <a:t>• Goal: Creating a 'Europe of Knowledge'.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and Religious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Culture: EU supports cooperation and protects heritage (e.g., Culture 2000 program).</a:t>
            </a:r>
          </a:p>
          <a:p>
            <a:r>
              <a:t>Religion: EU has no centralized policy; states decide (from secularism to national churches).</a:t>
            </a:r>
          </a:p>
          <a:p>
            <a:r>
              <a:t>• Modern Challenges: Mass immigration and religious identity in a liberal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Material:</a:t>
            </a:r>
          </a:p>
          <a:p>
            <a:r>
              <a:t>• Curs 5: Simbolurile şi Politicile Uniunii Europene (Course Materials)</a:t>
            </a:r>
          </a:p>
          <a:p>
            <a:r>
              <a:t>Relevant Treaties:</a:t>
            </a:r>
          </a:p>
          <a:p>
            <a:r>
              <a:t>  - Treaty of Maastricht (1992)</a:t>
            </a:r>
          </a:p>
          <a:p>
            <a:r>
              <a:t>  - Single European Act (1986)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549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Symbols and Policies of the European Union</vt:lpstr>
      <vt:lpstr>Symbols of Identity: Flag and Anthem</vt:lpstr>
      <vt:lpstr>Symbols of Identity: Day, Motto, and Languages</vt:lpstr>
      <vt:lpstr>The Euro and the Eurozone</vt:lpstr>
      <vt:lpstr>The Internal Market Policy</vt:lpstr>
      <vt:lpstr>EU Governance Principles</vt:lpstr>
      <vt:lpstr>Economic Policy &amp; Convergence</vt:lpstr>
      <vt:lpstr>Competition and Education</vt:lpstr>
      <vt:lpstr>Cultural and Religious Policies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Symbols and Policies of the European Union</dc:title>
  <dc:subject/>
  <dc:creator/>
  <cp:keywords/>
  <dc:description>generated using python-pptx</dc:description>
  <cp:lastModifiedBy>Miroslav Stanici</cp:lastModifiedBy>
  <cp:revision>2</cp:revision>
  <dcterms:created xsi:type="dcterms:W3CDTF">2013-01-27T09:14:16Z</dcterms:created>
  <dcterms:modified xsi:type="dcterms:W3CDTF">2026-03-29T07:15:25Z</dcterms:modified>
  <cp:category/>
</cp:coreProperties>
</file>