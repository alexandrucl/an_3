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51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67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004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9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98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81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21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054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134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11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70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2401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07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9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76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105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44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68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Romania and the European Union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Path from Association to Integration</a:t>
            </a:r>
          </a:p>
          <a:p>
            <a:r>
              <a:t>Detailed Overview based on Course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Relations and Re-association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1960s-70s: Romania was the first Eastern Bloc country to sign trade agreements with the EC.</a:t>
            </a:r>
          </a:p>
          <a:p>
            <a:r>
              <a:rPr dirty="0"/>
              <a:t>• 1980s: Relations suspended due to human rights violations.</a:t>
            </a:r>
          </a:p>
          <a:p>
            <a:r>
              <a:rPr dirty="0"/>
              <a:t>• March 1990: Official relations re-established after the fall of Communism.</a:t>
            </a:r>
          </a:p>
          <a:p>
            <a:r>
              <a:rPr dirty="0"/>
              <a:t>• 1991: Negotiation of the European Association Agreement (Europe Agreement).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Europe 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Signed in February 1993, entered into force in February 1995.</a:t>
            </a:r>
          </a:p>
          <a:p>
            <a:r>
              <a:t>• Aim: Create a free trade area and establish a framework for political dialogue.</a:t>
            </a:r>
          </a:p>
          <a:p>
            <a:r>
              <a:t>• Significance: Acknowledged Romania's objective to become a full EU member.</a:t>
            </a:r>
          </a:p>
          <a:p>
            <a:r>
              <a:t>• Institutionalized meetings between Romanian and EU officials.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Official Application for Membership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June 1995: Romania officially applied for EU membership during the French presidency.</a:t>
            </a:r>
          </a:p>
          <a:p>
            <a:r>
              <a:t>• The Snagov Strategy: A national consensus signed by all political parties supporting EU integration.</a:t>
            </a:r>
          </a:p>
          <a:p>
            <a:r>
              <a:t>• Copenhagen Criteria (1993): Romania had to meet political, economic, and legislative (Acquis) requirements.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Accession Negotiations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February 2000: Official start of negotiations in Brussels.</a:t>
            </a:r>
          </a:p>
          <a:p>
            <a:r>
              <a:t>• December 2004: Negotiations successfully concluded at the European Council.</a:t>
            </a:r>
          </a:p>
          <a:p>
            <a:r>
              <a:t>• Process involved closing 31 thematic chapters of the 'Acquis Communautaire'.</a:t>
            </a:r>
          </a:p>
          <a:p>
            <a:r>
              <a:t>• April 25, 2005: Signing of the Accession Treaty at Neumünster Abbey (Luxembourg).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Membership: Jan 1, 2007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Romania (and Bulgaria) became the 26th and 27th members of the EU.</a:t>
            </a:r>
          </a:p>
          <a:p>
            <a:r>
              <a:t>• Rights: Representation in the Parliament, Commission, and voting rights in the Council.</a:t>
            </a:r>
          </a:p>
          <a:p>
            <a:r>
              <a:t>• Obligations: Adhering to EU treaties, financial contributions, and implementing EU law.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for Romania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Modernization: Legal, administrative, and economic reforms.</a:t>
            </a:r>
          </a:p>
          <a:p>
            <a:r>
              <a:t>• Financial Support: Access to pre-accession funds (PHARE, ISPA, SAPARD) and structural funds.</a:t>
            </a:r>
          </a:p>
          <a:p>
            <a:r>
              <a:t>• Security &amp; Stability: Membership in a zone of peace and democratic values.</a:t>
            </a:r>
          </a:p>
          <a:p>
            <a:r>
              <a:t>• Global Influence: Representation through the Commission in international trade.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Economic Pressure: Reduced customs protection for national products.</a:t>
            </a:r>
          </a:p>
          <a:p>
            <a:r>
              <a:t>• Budgetary Contribution: Romania must contribute to the EU common budget (~800 million EUR in 2007).</a:t>
            </a:r>
          </a:p>
          <a:p>
            <a:r>
              <a:t>• Administrative Capacity: Risk of losing funds due to corruption or poor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Material:</a:t>
            </a:r>
          </a:p>
          <a:p>
            <a:r>
              <a:t>• Curs 4: România și Uniunea Europeană (Course Materials)</a:t>
            </a:r>
          </a:p>
          <a:p>
            <a:r>
              <a:t>Key Documents Cited:</a:t>
            </a:r>
          </a:p>
          <a:p>
            <a:r>
              <a:t>  - The Snagov Declaration (1995)</a:t>
            </a:r>
          </a:p>
          <a:p>
            <a:r>
              <a:t>  - The Treaty of Accession (2005)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440</Words>
  <Application>Microsoft Office PowerPoint</Application>
  <PresentationFormat>On-screen Show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Romania and the European Union</vt:lpstr>
      <vt:lpstr>Early Relations and Re-association</vt:lpstr>
      <vt:lpstr>The Europe Agreement</vt:lpstr>
      <vt:lpstr>Official Application for Membership</vt:lpstr>
      <vt:lpstr>Accession Negotiations</vt:lpstr>
      <vt:lpstr>Full Membership: Jan 1, 2007</vt:lpstr>
      <vt:lpstr>Benefits for Romania</vt:lpstr>
      <vt:lpstr>Costs and Challenges</vt:lpstr>
      <vt:lpstr>Bibliography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Romania and the European Union</dc:title>
  <dc:subject/>
  <dc:creator/>
  <cp:keywords/>
  <dc:description>generated using python-pptx</dc:description>
  <cp:lastModifiedBy>Miroslav Stanici</cp:lastModifiedBy>
  <cp:revision>2</cp:revision>
  <dcterms:created xsi:type="dcterms:W3CDTF">2013-01-27T09:14:16Z</dcterms:created>
  <dcterms:modified xsi:type="dcterms:W3CDTF">2026-03-29T07:14:39Z</dcterms:modified>
  <cp:category/>
</cp:coreProperties>
</file>