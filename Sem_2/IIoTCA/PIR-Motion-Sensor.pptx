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8229600"/>
  <p:notesSz cx="8229600" cy="14630400"/>
  <p:embeddedFontLst>
    <p:embeddedFont>
      <p:font typeface="Montserrat"/>
      <p:regular r:id="rId13"/>
    </p:embeddedFont>
    <p:embeddedFont>
      <p:font typeface="Montserrat"/>
      <p:regular r:id="rId14"/>
    </p:embeddedFont>
    <p:embeddedFont>
      <p:font typeface="Montserrat"/>
      <p:regular r:id="rId15"/>
    </p:embeddedFont>
    <p:embeddedFont>
      <p:font typeface="Montserrat"/>
      <p:regular r:id="rId16"/>
    </p:embeddedFont>
    <p:embeddedFont>
      <p:font typeface="Source Sans 3"/>
      <p:regular r:id="rId17"/>
    </p:embeddedFont>
    <p:embeddedFont>
      <p:font typeface="Source Sans 3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6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3031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349" y="621625"/>
            <a:ext cx="5239583" cy="6986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0198" y="1959293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PIR Motion Sensor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350198" y="3030736"/>
            <a:ext cx="74164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How Passive Infrared Technology Powers Smart Devices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350198" y="3678555"/>
            <a:ext cx="7416403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00"/>
              </a:lnSpc>
              <a:buNone/>
            </a:pP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350198" y="4252436"/>
            <a:ext cx="7416403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00"/>
              </a:lnSpc>
              <a:buNone/>
            </a:pP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350198" y="4826318"/>
            <a:ext cx="7416403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00"/>
              </a:lnSpc>
              <a:buNone/>
            </a:pP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350198" y="5400199"/>
            <a:ext cx="7416403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00"/>
              </a:lnSpc>
              <a:buNone/>
            </a:pP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350198" y="5974080"/>
            <a:ext cx="7416403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Cristea Laur-Alexandru, Boros Fabian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3312" y="619125"/>
            <a:ext cx="4737497" cy="591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Working Principles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83312" y="1561981"/>
            <a:ext cx="13063776" cy="287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PIR sensors are </a:t>
            </a:r>
            <a:pPr algn="l" indent="0" marL="0">
              <a:lnSpc>
                <a:spcPts val="225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passive</a:t>
            </a:r>
            <a:pPr algn="l" indent="0" marL="0">
              <a:lnSpc>
                <a:spcPts val="22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they detect infrared radiation emitted by warm bodies, not emit it themselves.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890" y="2948702"/>
            <a:ext cx="8216384" cy="3760351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3860" y="3887561"/>
            <a:ext cx="528273" cy="52827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23202" y="5694585"/>
            <a:ext cx="1542557" cy="54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Digital Output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9886" y="3888551"/>
            <a:ext cx="528273" cy="52827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179157" y="5694585"/>
            <a:ext cx="1542557" cy="54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Dual Pyroelectric</a:t>
            </a:r>
            <a:endParaRPr lang="en-US" sz="17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26406" y="3888551"/>
            <a:ext cx="528273" cy="52827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245677" y="5829625"/>
            <a:ext cx="1542558" cy="270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Fresnel Lens</a:t>
            </a:r>
            <a:endParaRPr lang="en-US" sz="17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82361" y="3888551"/>
            <a:ext cx="528273" cy="52827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269936" y="5829625"/>
            <a:ext cx="1542557" cy="270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IR Emission</a:t>
            </a:r>
            <a:endParaRPr lang="en-US" sz="1700" dirty="0"/>
          </a:p>
        </p:txBody>
      </p:sp>
      <p:sp>
        <p:nvSpPr>
          <p:cNvPr id="13" name="Shape 6"/>
          <p:cNvSpPr/>
          <p:nvPr/>
        </p:nvSpPr>
        <p:spPr>
          <a:xfrm>
            <a:off x="9612630" y="2245162"/>
            <a:ext cx="4241959" cy="1797368"/>
          </a:xfrm>
          <a:prstGeom prst="roundRect">
            <a:avLst>
              <a:gd name="adj" fmla="val 6105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9589770" y="2245162"/>
            <a:ext cx="91440" cy="1797368"/>
          </a:xfrm>
          <a:prstGeom prst="roundRect">
            <a:avLst>
              <a:gd name="adj" fmla="val 34164"/>
            </a:avLst>
          </a:prstGeom>
          <a:solidFill>
            <a:srgbClr val="FFFFFF"/>
          </a:solidFill>
          <a:ln/>
        </p:spPr>
      </p:sp>
      <p:sp>
        <p:nvSpPr>
          <p:cNvPr id="15" name="Text 8"/>
          <p:cNvSpPr/>
          <p:nvPr/>
        </p:nvSpPr>
        <p:spPr>
          <a:xfrm>
            <a:off x="9912310" y="2476262"/>
            <a:ext cx="3374588" cy="295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Dual Pyroelectric Elements</a:t>
            </a:r>
            <a:endParaRPr lang="en-US" sz="1850" dirty="0"/>
          </a:p>
        </p:txBody>
      </p:sp>
      <p:sp>
        <p:nvSpPr>
          <p:cNvPr id="16" name="Text 9"/>
          <p:cNvSpPr/>
          <p:nvPr/>
        </p:nvSpPr>
        <p:spPr>
          <a:xfrm>
            <a:off x="9912310" y="2947749"/>
            <a:ext cx="3711178" cy="863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Two side-by-side sensors detect IR difference as motion crosses the field of view.</a:t>
            </a:r>
            <a:endParaRPr lang="en-US" sz="1600" dirty="0"/>
          </a:p>
        </p:txBody>
      </p:sp>
      <p:sp>
        <p:nvSpPr>
          <p:cNvPr id="17" name="Shape 10"/>
          <p:cNvSpPr/>
          <p:nvPr/>
        </p:nvSpPr>
        <p:spPr>
          <a:xfrm>
            <a:off x="9612630" y="4218146"/>
            <a:ext cx="4241959" cy="1509474"/>
          </a:xfrm>
          <a:prstGeom prst="roundRect">
            <a:avLst>
              <a:gd name="adj" fmla="val 7269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9589770" y="4218146"/>
            <a:ext cx="91440" cy="1509474"/>
          </a:xfrm>
          <a:prstGeom prst="roundRect">
            <a:avLst>
              <a:gd name="adj" fmla="val 34164"/>
            </a:avLst>
          </a:prstGeom>
          <a:solidFill>
            <a:srgbClr val="FFFFFF"/>
          </a:solidFill>
          <a:ln/>
        </p:spPr>
      </p:sp>
      <p:sp>
        <p:nvSpPr>
          <p:cNvPr id="19" name="Text 12"/>
          <p:cNvSpPr/>
          <p:nvPr/>
        </p:nvSpPr>
        <p:spPr>
          <a:xfrm>
            <a:off x="9912310" y="4449247"/>
            <a:ext cx="2366605" cy="295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Fresnel Lens</a:t>
            </a:r>
            <a:endParaRPr lang="en-US" sz="1850" dirty="0"/>
          </a:p>
        </p:txBody>
      </p:sp>
      <p:sp>
        <p:nvSpPr>
          <p:cNvPr id="20" name="Text 13"/>
          <p:cNvSpPr/>
          <p:nvPr/>
        </p:nvSpPr>
        <p:spPr>
          <a:xfrm>
            <a:off x="9912310" y="4920734"/>
            <a:ext cx="3711178" cy="575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Focuses and segments the IR field into detection zones, extending effective range.</a:t>
            </a:r>
            <a:endParaRPr lang="en-US" sz="1600" dirty="0"/>
          </a:p>
        </p:txBody>
      </p:sp>
      <p:sp>
        <p:nvSpPr>
          <p:cNvPr id="21" name="Shape 14"/>
          <p:cNvSpPr/>
          <p:nvPr/>
        </p:nvSpPr>
        <p:spPr>
          <a:xfrm>
            <a:off x="9612630" y="5903238"/>
            <a:ext cx="4241959" cy="1509474"/>
          </a:xfrm>
          <a:prstGeom prst="roundRect">
            <a:avLst>
              <a:gd name="adj" fmla="val 7269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9589770" y="5903238"/>
            <a:ext cx="91440" cy="1509474"/>
          </a:xfrm>
          <a:prstGeom prst="roundRect">
            <a:avLst>
              <a:gd name="adj" fmla="val 34164"/>
            </a:avLst>
          </a:prstGeom>
          <a:solidFill>
            <a:srgbClr val="FFFFFF"/>
          </a:solidFill>
          <a:ln/>
        </p:spPr>
      </p:sp>
      <p:sp>
        <p:nvSpPr>
          <p:cNvPr id="23" name="Text 16"/>
          <p:cNvSpPr/>
          <p:nvPr/>
        </p:nvSpPr>
        <p:spPr>
          <a:xfrm>
            <a:off x="9912310" y="6134338"/>
            <a:ext cx="2366605" cy="295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Digital Output</a:t>
            </a:r>
            <a:endParaRPr lang="en-US" sz="1850" dirty="0"/>
          </a:p>
        </p:txBody>
      </p:sp>
      <p:sp>
        <p:nvSpPr>
          <p:cNvPr id="24" name="Text 17"/>
          <p:cNvSpPr/>
          <p:nvPr/>
        </p:nvSpPr>
        <p:spPr>
          <a:xfrm>
            <a:off x="9912310" y="6605826"/>
            <a:ext cx="3711178" cy="575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</a:t>
            </a:r>
            <a:pPr algn="l" indent="0" marL="0">
              <a:lnSpc>
                <a:spcPts val="22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when motion detected, </a:t>
            </a:r>
            <a:pPr algn="l" indent="0" marL="0">
              <a:lnSpc>
                <a:spcPts val="225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LOW</a:t>
            </a:r>
            <a:pPr algn="l" indent="0" marL="0">
              <a:lnSpc>
                <a:spcPts val="22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when idle — simple, reliable, ready for any MCU.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3031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1515" y="1489115"/>
            <a:ext cx="5251371" cy="52513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3317" y="681395"/>
            <a:ext cx="5346740" cy="668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Applications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823317" y="1685925"/>
            <a:ext cx="7497366" cy="689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Low power, low cost, no image processing needed — PIR sensors answer one question: </a:t>
            </a:r>
            <a:pPr algn="l" indent="0" marL="0">
              <a:lnSpc>
                <a:spcPts val="2700"/>
              </a:lnSpc>
              <a:buNone/>
            </a:pPr>
            <a:r>
              <a:rPr lang="en-US" sz="18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"Is someone here?"</a:t>
            </a:r>
            <a:endParaRPr lang="en-US" sz="1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317" y="2627233"/>
            <a:ext cx="470416" cy="4704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74006" y="2708077"/>
            <a:ext cx="2731532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Automatic Lighting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1574006" y="3176588"/>
            <a:ext cx="6746677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Hallways, bathrooms, and stairwells — lights on only when occupied.</a:t>
            </a:r>
            <a:endParaRPr lang="en-US" sz="1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3317" y="3969544"/>
            <a:ext cx="470416" cy="47041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74006" y="4050387"/>
            <a:ext cx="2673310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Security &amp; Alarms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1574006" y="4518898"/>
            <a:ext cx="6746677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Triggers burglar alarms and security cameras on intrusion detection.</a:t>
            </a:r>
            <a:endParaRPr lang="en-US" sz="1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3317" y="5311854"/>
            <a:ext cx="470416" cy="47041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74006" y="5392698"/>
            <a:ext cx="2947035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Energy Management</a:t>
            </a:r>
            <a:endParaRPr lang="en-US" sz="2100" dirty="0"/>
          </a:p>
        </p:txBody>
      </p:sp>
      <p:sp>
        <p:nvSpPr>
          <p:cNvPr id="14" name="Text 8"/>
          <p:cNvSpPr/>
          <p:nvPr/>
        </p:nvSpPr>
        <p:spPr>
          <a:xfrm>
            <a:off x="1574006" y="5861209"/>
            <a:ext cx="6746677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Shuts off HVAC and appliances in vacant rooms automatically.</a:t>
            </a:r>
            <a:endParaRPr lang="en-US" sz="18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3317" y="6654165"/>
            <a:ext cx="470416" cy="47041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574006" y="6735008"/>
            <a:ext cx="4602837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People Counters &amp; Wildlife Cams</a:t>
            </a:r>
            <a:endParaRPr lang="en-US" sz="2100" dirty="0"/>
          </a:p>
        </p:txBody>
      </p:sp>
      <p:sp>
        <p:nvSpPr>
          <p:cNvPr id="17" name="Text 10"/>
          <p:cNvSpPr/>
          <p:nvPr/>
        </p:nvSpPr>
        <p:spPr>
          <a:xfrm>
            <a:off x="1574006" y="7203519"/>
            <a:ext cx="6746677" cy="34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Retail foot-traffic analytics and remote wildlife monitoring.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005840"/>
            <a:ext cx="6364605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Commercial Products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200751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same core PIR technology scales from a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€0.80 hobbyist module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an enterprise-grade security detector.</a:t>
            </a:r>
            <a:endParaRPr lang="en-US" sz="1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798" y="2848570"/>
            <a:ext cx="1736646" cy="17366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3798" y="4893707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HC-SR501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63798" y="5392341"/>
            <a:ext cx="2994303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Classic hobbyist module. Adjustable sensitivity &amp; delay. Works directly with Arduino &amp; Raspberry Pi.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&lt;€1</a:t>
            </a:r>
            <a:endParaRPr lang="en-US" sz="1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592" y="2848570"/>
            <a:ext cx="1736646" cy="173664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66592" y="4893707"/>
            <a:ext cx="2994303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Philips Hue Motion Sensor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166592" y="5742980"/>
            <a:ext cx="2994303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Consumer smart home. PIR core with Zigbee connectivity. Triggers scenes and lighting automations.</a:t>
            </a:r>
            <a:endParaRPr lang="en-US" sz="1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9386" y="2848570"/>
            <a:ext cx="1736646" cy="173664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69386" y="4893707"/>
            <a:ext cx="2994303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Ring Motion Detector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469386" y="5742980"/>
            <a:ext cx="2994303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Security-focused PIR sensor. Integrates with Ring ecosystem, push alerts, and Alexa.</a:t>
            </a:r>
            <a:endParaRPr lang="en-US" sz="1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2180" y="2848570"/>
            <a:ext cx="1736765" cy="173676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772180" y="4893826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Bosch DS151i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0772180" y="5392460"/>
            <a:ext cx="2994422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Industry-standard detector. Tamper protection, up to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15 m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range. Enterprise security deployments.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88031" y="549116"/>
            <a:ext cx="4294942" cy="536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Code + Wiring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1388031" y="1375172"/>
            <a:ext cx="11854220" cy="27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Three wires. One </a:t>
            </a:r>
            <a:pPr algn="l" indent="0" marL="0">
              <a:lnSpc>
                <a:spcPts val="1950"/>
              </a:lnSpc>
              <a:buNone/>
            </a:pPr>
            <a:r>
              <a:rPr lang="en-US" sz="1450" dirty="0">
                <a:solidFill>
                  <a:srgbClr val="E2E6E9"/>
                </a:solidFill>
                <a:highlight>
                  <a:srgbClr val="1E1F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digitalRead()</a:t>
            </a:r>
            <a:pPr algn="l" indent="0" marL="0">
              <a:lnSpc>
                <a:spcPts val="19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That's all it takes to get motion detection running on Arduino.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1388031" y="1955602"/>
            <a:ext cx="2147411" cy="268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Arduino Sketch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1388031" y="2386846"/>
            <a:ext cx="6312337" cy="5130760"/>
          </a:xfrm>
          <a:prstGeom prst="roundRect">
            <a:avLst>
              <a:gd name="adj" fmla="val 552"/>
            </a:avLst>
          </a:prstGeom>
          <a:solidFill>
            <a:srgbClr val="1E1F20"/>
          </a:solidFill>
          <a:ln/>
        </p:spPr>
      </p:sp>
      <p:sp>
        <p:nvSpPr>
          <p:cNvPr id="6" name="Shape 4"/>
          <p:cNvSpPr/>
          <p:nvPr/>
        </p:nvSpPr>
        <p:spPr>
          <a:xfrm>
            <a:off x="1378625" y="2386846"/>
            <a:ext cx="6331148" cy="5130760"/>
          </a:xfrm>
          <a:prstGeom prst="roundRect">
            <a:avLst>
              <a:gd name="adj" fmla="val 552"/>
            </a:avLst>
          </a:prstGeom>
          <a:solidFill>
            <a:srgbClr val="1E1F20"/>
          </a:solidFill>
          <a:ln/>
        </p:spPr>
      </p:sp>
      <p:sp>
        <p:nvSpPr>
          <p:cNvPr id="7" name="Text 5"/>
          <p:cNvSpPr/>
          <p:nvPr/>
        </p:nvSpPr>
        <p:spPr>
          <a:xfrm>
            <a:off x="1614845" y="2575798"/>
            <a:ext cx="5858708" cy="4752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pirPin = 2;   // PIR OUT → D2</a:t>
            </a:r>
            <a:endParaRPr lang="en-US" sz="145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ledPin = 13;  // Onboard LED</a:t>
            </a:r>
            <a:endParaRPr lang="en-US" sz="1450" dirty="0"/>
          </a:p>
          <a:p>
            <a:pPr algn="l" indent="0" marL="0">
              <a:lnSpc>
                <a:spcPts val="1950"/>
              </a:lnSpc>
              <a:buNone/>
            </a:pPr>
            <a:endParaRPr lang="en-US" sz="145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setup() {</a:t>
            </a:r>
            <a:endParaRPr lang="en-US" sz="145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pinMode(pirPin, INPUT);</a:t>
            </a:r>
            <a:endParaRPr lang="en-US" sz="145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pinMode(ledPin, OUTPUT);</a:t>
            </a:r>
            <a:endParaRPr lang="en-US" sz="145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Serial.begin(9600);</a:t>
            </a:r>
            <a:endParaRPr lang="en-US" sz="145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  <a:p>
            <a:pPr algn="l" indent="0" marL="0">
              <a:lnSpc>
                <a:spcPts val="1950"/>
              </a:lnSpc>
              <a:buNone/>
            </a:pPr>
            <a:endParaRPr lang="en-US" sz="145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</a:t>
            </a:r>
            <a:endParaRPr lang="en-US" sz="145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state = digitalRead(pirPin);</a:t>
            </a:r>
            <a:endParaRPr lang="en-US" sz="145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(state == HIGH) {</a:t>
            </a:r>
            <a:endParaRPr lang="en-US" sz="145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digitalWrite(ledPin, HIGH); // Motion!</a:t>
            </a:r>
            <a:endParaRPr lang="en-US" sz="145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Serial.println("Motion detected");</a:t>
            </a:r>
            <a:endParaRPr lang="en-US" sz="145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  <a:endParaRPr lang="en-US" sz="145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digitalWrite(ledPin, LOW);  // Clear</a:t>
            </a:r>
            <a:endParaRPr lang="en-US" sz="145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5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delay(100);</a:t>
            </a:r>
            <a:endParaRPr lang="en-US" sz="145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032909" y="1810941"/>
            <a:ext cx="5352931" cy="5869424"/>
          </a:xfrm>
          <a:prstGeom prst="roundRect">
            <a:avLst>
              <a:gd name="adj" fmla="val 530"/>
            </a:avLst>
          </a:prstGeom>
          <a:solidFill>
            <a:srgbClr val="1D1F22"/>
          </a:solidFill>
          <a:ln/>
        </p:spPr>
      </p:sp>
      <p:sp>
        <p:nvSpPr>
          <p:cNvPr id="9" name="Text 7"/>
          <p:cNvSpPr/>
          <p:nvPr/>
        </p:nvSpPr>
        <p:spPr>
          <a:xfrm>
            <a:off x="8221861" y="1955602"/>
            <a:ext cx="2147411" cy="268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Wiring</a:t>
            </a:r>
            <a:endParaRPr lang="en-US" sz="16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92703" y="2386786"/>
            <a:ext cx="283369" cy="28336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835985" y="2386846"/>
            <a:ext cx="4360902" cy="250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PIR </a:t>
            </a:r>
            <a:pPr algn="l" indent="0" marL="0">
              <a:lnSpc>
                <a:spcPts val="195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VCC</a:t>
            </a:r>
            <a:pPr algn="l" indent="0" marL="0">
              <a:lnSpc>
                <a:spcPts val="19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→ Arduino </a:t>
            </a:r>
            <a:pPr algn="l" indent="0" marL="0">
              <a:lnSpc>
                <a:spcPts val="195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5V</a:t>
            </a:r>
            <a:endParaRPr lang="en-US" sz="14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2703" y="3242965"/>
            <a:ext cx="283369" cy="2833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835985" y="3243024"/>
            <a:ext cx="4360902" cy="250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PIR </a:t>
            </a:r>
            <a:pPr algn="l" indent="0" marL="0">
              <a:lnSpc>
                <a:spcPts val="195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GND</a:t>
            </a:r>
            <a:pPr algn="l" indent="0" marL="0">
              <a:lnSpc>
                <a:spcPts val="19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→ Arduino </a:t>
            </a:r>
            <a:pPr algn="l" indent="0" marL="0">
              <a:lnSpc>
                <a:spcPts val="195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GND</a:t>
            </a:r>
            <a:endParaRPr lang="en-US" sz="14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92703" y="4099143"/>
            <a:ext cx="283369" cy="2833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835985" y="4099203"/>
            <a:ext cx="4360902" cy="250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PIR </a:t>
            </a:r>
            <a:pPr algn="l" indent="0" marL="0">
              <a:lnSpc>
                <a:spcPts val="195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</a:t>
            </a:r>
            <a:pPr algn="l" indent="0" marL="0">
              <a:lnSpc>
                <a:spcPts val="19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→ Arduino </a:t>
            </a:r>
            <a:pPr algn="l" indent="0" marL="0">
              <a:lnSpc>
                <a:spcPts val="195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D2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8221861" y="4828818"/>
            <a:ext cx="4975027" cy="916662"/>
          </a:xfrm>
          <a:prstGeom prst="roundRect">
            <a:avLst>
              <a:gd name="adj" fmla="val 3092"/>
            </a:avLst>
          </a:prstGeom>
          <a:solidFill>
            <a:srgbClr val="022349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0813" y="5074801"/>
            <a:ext cx="236220" cy="18895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835985" y="5020628"/>
            <a:ext cx="4171950" cy="500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Tune onboard potentiometers to adjust </a:t>
            </a:r>
            <a:pPr algn="l" indent="0" marL="0">
              <a:lnSpc>
                <a:spcPts val="195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sensitivity</a:t>
            </a:r>
            <a:pPr algn="l" indent="0" marL="0">
              <a:lnSpc>
                <a:spcPts val="19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</a:t>
            </a:r>
            <a:pPr algn="l" indent="0" marL="0">
              <a:lnSpc>
                <a:spcPts val="195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output hold time</a:t>
            </a:r>
            <a:pPr algn="l" indent="0" marL="0">
              <a:lnSpc>
                <a:spcPts val="195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without changing any code.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887611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References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3798" y="2082522"/>
            <a:ext cx="12902803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Sources used throughout this presentation — all publicly accessible.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3798" y="2730341"/>
            <a:ext cx="493633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63798" y="3119318"/>
            <a:ext cx="4136350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63798" y="3303627"/>
            <a:ext cx="4136350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Wikipedia — Passive Infrared Sensor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3798" y="4152900"/>
            <a:ext cx="413635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en.wikipedia.org/wiki/Passive_infrared_sensor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246965" y="2730341"/>
            <a:ext cx="493633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246965" y="3119318"/>
            <a:ext cx="4136350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246965" y="3303627"/>
            <a:ext cx="4136350" cy="70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Arduino Documentation — PIR Sensor Tutorial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46965" y="4152900"/>
            <a:ext cx="413635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docs.arduino.cc/built-in-examples/digital/PIR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630132" y="2730341"/>
            <a:ext cx="493633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9630132" y="3119318"/>
            <a:ext cx="4136350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9630132" y="3303627"/>
            <a:ext cx="2977277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HC-SR501 Datasheet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30132" y="3802261"/>
            <a:ext cx="4136350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Datasheet covering sensitivity range, timing, and electrical specs for the HC-SR501 module.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63798" y="5344597"/>
            <a:ext cx="493633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63798" y="5733574"/>
            <a:ext cx="6327934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63798" y="5917883"/>
            <a:ext cx="6314718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Philips Hue Motion Sensor — Product Page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63798" y="6416516"/>
            <a:ext cx="6327934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meethue.com — specifications and Zigbee integration details.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438549" y="5344597"/>
            <a:ext cx="493633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7438549" y="5733574"/>
            <a:ext cx="6327934" cy="30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438549" y="5917883"/>
            <a:ext cx="5399842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Bosch DS151i — Technical Data Sheet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38549" y="6416516"/>
            <a:ext cx="6327934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boschsecurity.com — professional PIR detector specifications and installation guide.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2026-04-27T13:45:34Z</dcterms:created>
  <dcterms:modified xsi:type="dcterms:W3CDTF">2026-04-27T13:45:34Z</dcterms:modified>
</cp:coreProperties>
</file>